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0" r:id="rId3"/>
    <p:sldId id="257" r:id="rId4"/>
    <p:sldId id="258" r:id="rId5"/>
    <p:sldId id="259" r:id="rId6"/>
    <p:sldId id="260" r:id="rId7"/>
    <p:sldId id="261" r:id="rId8"/>
    <p:sldId id="262" r:id="rId9"/>
    <p:sldId id="273" r:id="rId10"/>
    <p:sldId id="269" r:id="rId11"/>
    <p:sldId id="270" r:id="rId12"/>
    <p:sldId id="271" r:id="rId13"/>
    <p:sldId id="274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1E89A-6C49-43BD-B852-B2BCDDA90346}" v="306" dt="2026-10-04T09:29:48.175"/>
    <p1510:client id="{6FC7C84E-70DC-4934-836E-A16345CEECA4}" v="128" dt="2026-10-04T10:31:24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" dirty="0"/>
              <a:t>Ali Al Bassri</a:t>
            </a:r>
          </a:p>
          <a:p>
            <a:r>
              <a:rPr lang="" dirty="0"/>
              <a:t>S.Qassim Mohamed</a:t>
            </a:r>
          </a:p>
          <a:p>
            <a:r>
              <a:rPr lang="" dirty="0"/>
              <a:t>S.Hassan Al Hashimi 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36F7-B606-71D1-925A-7DC5FB7B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970A5-C03C-2061-946F-92C65B845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Between 2016 and 2018, </a:t>
            </a:r>
            <a:r>
              <a:rPr lang="en-US" dirty="0" err="1"/>
              <a:t>Olist</a:t>
            </a:r>
            <a:r>
              <a:rPr lang="en-US" dirty="0"/>
              <a:t> in Brazil kept an average review score of 4.1, which is in the satisfied range. However, 11.5% of customers still gave 1-star reviews. This raises the need to understand what drove these negative experiences and what steps can fix them.</a:t>
            </a:r>
          </a:p>
        </p:txBody>
      </p:sp>
    </p:spTree>
    <p:extLst>
      <p:ext uri="{BB962C8B-B14F-4D97-AF65-F5344CB8AC3E}">
        <p14:creationId xmlns:p14="http://schemas.microsoft.com/office/powerpoint/2010/main" val="260857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0ACDB-BF6D-C1A7-578A-69534DF35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+mj-lt"/>
                <a:cs typeface="Arial"/>
              </a:rPr>
              <a:t>What are the different categories of customer reviews?</a:t>
            </a:r>
            <a:endParaRPr lang="en-US">
              <a:latin typeface="Arial"/>
              <a:cs typeface="Arial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5621C-033B-6562-A406-EA4DBA84F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2- Unsatisfied </a:t>
            </a:r>
            <a:endParaRPr lang="en-US" sz="2400" b="1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400" b="1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3- Neutral </a:t>
            </a:r>
            <a:endParaRPr lang="en-US" sz="2400" b="1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400" b="1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4- Satisfied </a:t>
            </a:r>
            <a:endParaRPr lang="en-US" sz="2400" b="1" dirty="0"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377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B409-102D-FE28-0A7E-B8520ABA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Are customers satisfied with </a:t>
            </a:r>
            <a:r>
              <a:rPr lang="en-US" dirty="0" err="1">
                <a:highlight>
                  <a:srgbClr val="FFFFFF"/>
                </a:highlight>
                <a:latin typeface="Arial"/>
                <a:cs typeface="Arial"/>
              </a:rPr>
              <a:t>Olist's</a:t>
            </a:r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 products and services?</a:t>
            </a:r>
            <a:endParaRPr lang="en-US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2B9E1-6887-E48D-E722-3E2E065B8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high percentage of customers are satisfied </a:t>
            </a:r>
            <a:r>
              <a:rPr lang="en-US" dirty="0" err="1">
                <a:ea typeface="+mn-lt"/>
                <a:cs typeface="+mn-lt"/>
              </a:rPr>
              <a:t>Olist's</a:t>
            </a:r>
            <a:r>
              <a:rPr lang="en-US" dirty="0">
                <a:ea typeface="+mn-lt"/>
                <a:cs typeface="+mn-lt"/>
              </a:rPr>
              <a:t> products and services. The overall Avg review score is 4.1.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75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5D98-4C27-1AFF-EFD2-E84698C5C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Are we performing well or poorly in terms of customer satisfaction?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EC2FF-CFA1-0A4C-1487-9631A3B33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There are efficiency and inefficiency (areas of improvement) in achieving customer satisfaction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73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E8F0-5CFA-2E30-CB47-48CF1DB8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Which KPIs best measure satisfaction; NPS, churn rate, repeat purchases, complaints, or reviews?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22B97-7540-C3FD-EDBC-085AEADD9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Best KPI to measure satisfaction is reviews</a:t>
            </a:r>
          </a:p>
        </p:txBody>
      </p:sp>
    </p:spTree>
    <p:extLst>
      <p:ext uri="{BB962C8B-B14F-4D97-AF65-F5344CB8AC3E}">
        <p14:creationId xmlns:p14="http://schemas.microsoft.com/office/powerpoint/2010/main" val="2905695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D8078-E224-9D7F-665B-2DC2F33C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Where are highest and least reviews?</a:t>
            </a:r>
            <a:endParaRPr lang="en-US" dirty="0"/>
          </a:p>
        </p:txBody>
      </p:sp>
      <p:pic>
        <p:nvPicPr>
          <p:cNvPr id="5" name="Content Placeholder 3" descr="A bar graph with blue bars&#10;&#10;AI-generated content may be incorrect.">
            <a:extLst>
              <a:ext uri="{FF2B5EF4-FFF2-40B4-BE49-F238E27FC236}">
                <a16:creationId xmlns:a16="http://schemas.microsoft.com/office/drawing/2014/main" id="{F85A1560-EFFB-E13C-F198-E45876537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358" y="1362334"/>
            <a:ext cx="8998493" cy="5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96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E5C4-2771-5C62-A258-B348C319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What are the 5 regions of Brazil?</a:t>
            </a:r>
            <a:endParaRPr lang="en-US" dirty="0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45C8A-C4A5-86C6-FF17-62F6C0003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ea typeface="+mn-lt"/>
                <a:cs typeface="Arial"/>
              </a:rPr>
              <a:t>Central west - population 14 million</a:t>
            </a:r>
          </a:p>
          <a:p>
            <a:r>
              <a:rPr lang="en-US" dirty="0">
                <a:latin typeface="Arial"/>
                <a:ea typeface="+mn-lt"/>
                <a:cs typeface="Arial"/>
              </a:rPr>
              <a:t>Southeast - population 85 million</a:t>
            </a:r>
          </a:p>
          <a:p>
            <a:r>
              <a:rPr lang="en-US" dirty="0">
                <a:latin typeface="Arial"/>
                <a:ea typeface="+mn-lt"/>
                <a:cs typeface="Arial"/>
              </a:rPr>
              <a:t>South - population 28 million</a:t>
            </a:r>
          </a:p>
          <a:p>
            <a:r>
              <a:rPr lang="en-US" dirty="0">
                <a:latin typeface="Arial"/>
                <a:ea typeface="+mn-lt"/>
                <a:cs typeface="Arial"/>
              </a:rPr>
              <a:t>Northeast - population 56 million</a:t>
            </a:r>
          </a:p>
          <a:p>
            <a:r>
              <a:rPr lang="en-US" dirty="0">
                <a:latin typeface="Arial"/>
                <a:ea typeface="+mn-lt"/>
                <a:cs typeface="Arial"/>
              </a:rPr>
              <a:t>North - population 18 million</a:t>
            </a: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620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7E23-5807-E21F-46B6-6C0D01A3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5C36C-A687-2123-361E-C9F69B3BB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Median age in Brazil sits at approximately 35 years in 2026</a:t>
            </a:r>
          </a:p>
          <a:p>
            <a:r>
              <a:rPr lang="en-US" dirty="0"/>
              <a:t>Approximately 88 percent of Brazilians live in urban areas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14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815F-268F-D02B-F3CD-2CC87977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how can we improve customer experience and satisfaction?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362E9-0117-5F56-7250-43D98A78E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According to comments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deliver the item within the deadline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deliver all ordered items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 Better communication with customers regarding latest updates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Improve quality and good packaging of product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10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B25C-C401-D92A-D9AE-C42AE7C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What percentage of customers are highly satisfied, neutral, or unsatisfied?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F3F66-3CD5-2128-9C95-B443A3F14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57.8 % are highly satisfied</a:t>
            </a:r>
          </a:p>
          <a:p>
            <a:endParaRPr lang="en-US" dirty="0"/>
          </a:p>
          <a:p>
            <a:r>
              <a:rPr lang="en-US" dirty="0"/>
              <a:t>8% are neutral</a:t>
            </a:r>
          </a:p>
          <a:p>
            <a:endParaRPr lang="en-US" dirty="0"/>
          </a:p>
          <a:p>
            <a:r>
              <a:rPr lang="en-US" dirty="0"/>
              <a:t>11.4% are unsatisfied</a:t>
            </a:r>
          </a:p>
        </p:txBody>
      </p:sp>
    </p:spTree>
    <p:extLst>
      <p:ext uri="{BB962C8B-B14F-4D97-AF65-F5344CB8AC3E}">
        <p14:creationId xmlns:p14="http://schemas.microsoft.com/office/powerpoint/2010/main" val="359711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559997-B9C1-A9F2-C77A-BDD567FBD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829" y="643466"/>
            <a:ext cx="9127775" cy="59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52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DCF3-9E2D-92AF-5F5C-C4F405BB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991" y="2299638"/>
            <a:ext cx="7142018" cy="2258724"/>
          </a:xfrm>
        </p:spPr>
        <p:txBody>
          <a:bodyPr>
            <a:noAutofit/>
          </a:bodyPr>
          <a:lstStyle/>
          <a:p>
            <a:r>
              <a:rPr lang="en-US" sz="11200" dirty="0"/>
              <a:t>Ali Al Basri</a:t>
            </a:r>
          </a:p>
        </p:txBody>
      </p:sp>
    </p:spTree>
    <p:extLst>
      <p:ext uri="{BB962C8B-B14F-4D97-AF65-F5344CB8AC3E}">
        <p14:creationId xmlns:p14="http://schemas.microsoft.com/office/powerpoint/2010/main" val="3078541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3DC3-F144-B1E5-3A84-331F2913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dirty="0">
                <a:latin typeface="Arial" panose="020B0604020202020204" pitchFamily="34" charset="0"/>
                <a:cs typeface="Arial" panose="020B0604020202020204" pitchFamily="34" charset="0"/>
              </a:rPr>
              <a:t>How many reviews were given per year or per month?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661D91-DFB1-DF17-B2BB-65A7ED2D5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791" y="1357733"/>
            <a:ext cx="5776210" cy="4823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B02DD-4298-57AF-7552-5A94A8D2E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31" y="1357733"/>
            <a:ext cx="6007967" cy="48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12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5AFA-FD0F-E2C6-4C61-55761DB3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dirty="0"/>
              <a:t>-What is the average customer review score (overall, monthly, or quarterly)?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4F9E7F-324A-B4D2-A079-99CA4B929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237"/>
            <a:ext cx="6143724" cy="5016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75854F-F0F9-0D46-F0C2-9F4412F08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57" y="1476237"/>
            <a:ext cx="5729943" cy="519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11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227A-4CB3-C96A-12E9-A854FE28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73249" cy="4251845"/>
          </a:xfrm>
        </p:spPr>
        <p:txBody>
          <a:bodyPr>
            <a:normAutofit fontScale="90000"/>
          </a:bodyPr>
          <a:lstStyle/>
          <a:p>
            <a:r>
              <a:rPr lang="" dirty="0"/>
              <a:t>Why is there a drop in average satisfaction or reviews in December 2016 and between Oct 2017–Feb 2018?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4AB479-7E64-DF6F-7ED1-C340D958F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921" y="0"/>
            <a:ext cx="50350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64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0D8F-47F0-ECEF-8BC9-706E9161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58" y="914400"/>
            <a:ext cx="12389870" cy="1212370"/>
          </a:xfrm>
        </p:spPr>
        <p:txBody>
          <a:bodyPr>
            <a:normAutofit fontScale="90000"/>
          </a:bodyPr>
          <a:lstStyle/>
          <a:p>
            <a:r>
              <a:rPr lang="" dirty="0"/>
              <a:t>-Why are some customers rating Olist 1 star (high dissatisfaction)?</a:t>
            </a:r>
            <a:br>
              <a:rPr lang="" dirty="0"/>
            </a:b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95B3A5-F490-FCB3-0CD0-740396E8F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954" y="1347709"/>
            <a:ext cx="5713391" cy="536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60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BC36-2210-FBBA-5997-3204A4EF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-How can we convert "highly unsatisfied" customers into satisfied ones?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C743FA-2A4C-151F-E21F-31194E85CD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964" y="1777488"/>
            <a:ext cx="7784655" cy="508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20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EF04-7009-0965-0ADF-E7A49BD8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dirty="0"/>
              <a:t>-How can we improve 4-star reviews to 5 stars?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4FACA8-0F05-3C94-B2EF-28FA88A94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7906"/>
            <a:ext cx="6096000" cy="4931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9FF21-C3A7-A4D6-D6A7-14DFBDB2A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17966"/>
            <a:ext cx="5776209" cy="584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00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17E5-413A-1B9C-6E97-768339A0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4" y="155263"/>
            <a:ext cx="12082072" cy="1325563"/>
          </a:xfrm>
        </p:spPr>
        <p:txBody>
          <a:bodyPr>
            <a:noAutofit/>
          </a:bodyPr>
          <a:lstStyle/>
          <a:p>
            <a:r>
              <a:rPr lang="" sz="3600" dirty="0"/>
              <a:t>-What categories or sellers are linked to low review scores?</a:t>
            </a:r>
            <a:br>
              <a:rPr lang="" sz="3600" dirty="0"/>
            </a:br>
            <a:endParaRPr lang="LID4096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E663A2-539D-DFFB-6978-8BC890619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0" y="1078024"/>
            <a:ext cx="10747559" cy="57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81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E6AF4E-1436-A2D9-4A36-678D9080A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6" y="333531"/>
            <a:ext cx="11825547" cy="61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70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3B9CB-47BD-FD6F-3233-8128E57F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dirty="0"/>
              <a:t>Are there patterns of low satisfaction in specific months, categories, or sellers?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A83806-EF77-B6C8-DB29-63F58632A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711" y="1857021"/>
            <a:ext cx="9052578" cy="42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2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BCBD-A2BC-FC36-0E2C-8D58FDAE3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dirty="0"/>
              <a:t>How many customers are satisfied despite late deliveries, and how many are not?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21920C-7A3D-1482-1C6C-07C5A7FFF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103" y="1948462"/>
            <a:ext cx="5129794" cy="410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30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666C-C1FA-CC92-711B-84A90392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dirty="0"/>
              <a:t>Does late delivery cause low reviews, or are there other factors involved?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97DBD7-79B6-A564-B109-00E198E05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244" y="1825625"/>
            <a:ext cx="46195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87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6A74-773F-47AA-B96B-C0F03464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dirty="0"/>
              <a:t>What are the top 5 most common negative keywords in 1-star reviews?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F0D998-7532-16AA-6BFF-A0F33CFE6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275" y="1336260"/>
            <a:ext cx="7529449" cy="53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60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ACA58-6BF9-02FA-DDA2-1BEA90D2E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85" y="170482"/>
            <a:ext cx="12052515" cy="625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52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EF7D-05A6-A8C8-7DA7-CE19B054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2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" dirty="0"/>
              <a:t>Do customers who gave a 1- or 2-star review ever make a repeat purchase, </a:t>
            </a:r>
            <a:br>
              <a:rPr lang="" dirty="0"/>
            </a:b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8F5F92-2F5F-7212-710F-FDD23AC2D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108" y="1182864"/>
            <a:ext cx="6521636" cy="567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66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20BFA-7053-3A0C-7BCE-A58FC31D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states or regions have the highest and lowest average satisfaction?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4E7B74-7164-F9D3-BE3C-9D964A0B9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828" y="1825625"/>
            <a:ext cx="46463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66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1EC9-425C-E3B6-7937-9FED96FA1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Rio de Janeiro have a lower average compared to its neighboring states?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B911E6-321F-9963-56EF-503D794FD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399" y="1884454"/>
            <a:ext cx="4965202" cy="423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29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6D37-35AF-27B3-F406-D3B1CDC3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sellers or marketplaces have the lowest satisfaction scores?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B3FEB6-05CB-3F43-297E-0D500417B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523" y="1884454"/>
            <a:ext cx="5266954" cy="423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37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92C0-7CEF-3ACA-B0E3-8B098439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shipping or delivery performance affect satisfaction?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715135-527B-893F-A673-BA6CD990E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4" y="1825625"/>
            <a:ext cx="50643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29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87C5-F60E-023F-3A65-8C12AD9D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average lateness days per order, and in which categories?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F90A57-2CDE-25D9-67DF-2FF8305DA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4"/>
            <a:ext cx="10515600" cy="495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71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34A7-DE0C-90A9-BD84-D5ED6C586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Which categories have the highest count of late deliveries?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B2E07F-AF42-5830-1768-1790FD429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55548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38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8E2F-4337-F4BC-7F96-E63F5D54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categories have the highest and lowest satisfaction rates (in % terms)?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67AEFE-06AB-2BD1-963A-9E35E4CDF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825625"/>
            <a:ext cx="105156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19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6A8B-8B96-D453-ABF8-39295D18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Does delivering earlier than the estimated delivery date significantly increase 5-star ratings, or is on-time delivery sufficient?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0BA543-1638-241A-991D-95E1B9993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017000" cy="438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024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22F06-699E-CE07-BD4B-81A87537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5D3A6-39E2-8183-6FE2-1E3E4E577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Delivery is the main problem.</a:t>
            </a:r>
            <a:r>
              <a:rPr lang="en-US" dirty="0"/>
              <a:t> Of the 1-star orders, 18% were never delivered and 30% arrived late. "Not received" is the top reason in the comments.</a:t>
            </a:r>
          </a:p>
          <a:p>
            <a:pPr lvl="0" fontAlgn="base"/>
            <a:r>
              <a:rPr lang="en-US" b="1" dirty="0"/>
              <a:t>Late delivery is not the only cause.</a:t>
            </a:r>
            <a:r>
              <a:rPr lang="en-US" dirty="0"/>
              <a:t> 63% of the delivered 1-star orders arrived on time, so wrong items, damaged products, and poor seller service also matter.</a:t>
            </a:r>
          </a:p>
          <a:p>
            <a:pPr lvl="0" fontAlgn="base"/>
            <a:r>
              <a:rPr lang="en-US" b="1" dirty="0"/>
              <a:t>Early delivery helps.</a:t>
            </a:r>
            <a:r>
              <a:rPr lang="en-US" dirty="0"/>
              <a:t> 5★ reviews go up from about 55% (delivered on the estimated day) to about 64% (8+ days early).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</TotalTime>
  <Words>682</Words>
  <Application>Microsoft Office PowerPoint</Application>
  <PresentationFormat>Widescreen</PresentationFormat>
  <Paragraphs>67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Olist</vt:lpstr>
      <vt:lpstr>Problem Statement</vt:lpstr>
      <vt:lpstr>What are the different categories of customer reviews? </vt:lpstr>
      <vt:lpstr>Are customers satisfied with Olist's products and services? </vt:lpstr>
      <vt:lpstr>Are we performing well or poorly in terms of customer satisfaction?</vt:lpstr>
      <vt:lpstr>Which KPIs best measure satisfaction; NPS, churn rate, repeat purchases, complaints, or reviews?</vt:lpstr>
      <vt:lpstr>Where are highest and least reviews?</vt:lpstr>
      <vt:lpstr>What are the 5 regions of Brazil? </vt:lpstr>
      <vt:lpstr>Demographics</vt:lpstr>
      <vt:lpstr>how can we improve customer experience and satisfaction?</vt:lpstr>
      <vt:lpstr>What percentage of customers are highly satisfied, neutral, or unsatisfied?</vt:lpstr>
      <vt:lpstr>PowerPoint Presentation</vt:lpstr>
      <vt:lpstr>Ali Al Basri</vt:lpstr>
      <vt:lpstr>How many reviews were given per year or per month? </vt:lpstr>
      <vt:lpstr>-What is the average customer review score (overall, monthly, or quarterly)? </vt:lpstr>
      <vt:lpstr>Why is there a drop in average satisfaction or reviews in December 2016 and between Oct 2017–Feb 2018? </vt:lpstr>
      <vt:lpstr>-Why are some customers rating Olist 1 star (high dissatisfaction)?  </vt:lpstr>
      <vt:lpstr>-How can we convert "highly unsatisfied" customers into satisfied ones?</vt:lpstr>
      <vt:lpstr>-How can we improve 4-star reviews to 5 stars? </vt:lpstr>
      <vt:lpstr>-What categories or sellers are linked to low review scores? </vt:lpstr>
      <vt:lpstr>PowerPoint Presentation</vt:lpstr>
      <vt:lpstr>Are there patterns of low satisfaction in specific months, categories, or sellers? </vt:lpstr>
      <vt:lpstr>How many customers are satisfied despite late deliveries, and how many are not? </vt:lpstr>
      <vt:lpstr>Does late delivery cause low reviews, or are there other factors involved? </vt:lpstr>
      <vt:lpstr>What are the top 5 most common negative keywords in 1-star reviews? </vt:lpstr>
      <vt:lpstr>PowerPoint Presentation</vt:lpstr>
      <vt:lpstr>Do customers who gave a 1- or 2-star review ever make a repeat purchase,  </vt:lpstr>
      <vt:lpstr>Which states or regions have the highest and lowest average satisfaction? </vt:lpstr>
      <vt:lpstr>Why does Rio de Janeiro have a lower average compared to its neighboring states? </vt:lpstr>
      <vt:lpstr>Which sellers or marketplaces have the lowest satisfaction scores? </vt:lpstr>
      <vt:lpstr>How does shipping or delivery performance affect satisfaction? </vt:lpstr>
      <vt:lpstr>What are the average lateness days per order, and in which categories?</vt:lpstr>
      <vt:lpstr>Which categories have the highest count of late deliveries? </vt:lpstr>
      <vt:lpstr>Which categories have the highest and lowest satisfaction rates (in % terms)? </vt:lpstr>
      <vt:lpstr>Does delivering earlier than the estimated delivery date significantly increase 5-star ratings, or is on-time delivery sufficient?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sayed qassim</cp:lastModifiedBy>
  <cp:revision>181</cp:revision>
  <dcterms:created xsi:type="dcterms:W3CDTF">2026-10-04T08:12:38Z</dcterms:created>
  <dcterms:modified xsi:type="dcterms:W3CDTF">2026-10-04T19:08:50Z</dcterms:modified>
</cp:coreProperties>
</file>